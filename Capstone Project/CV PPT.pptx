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3"/>
    <p:sldId id="258" r:id="rId4"/>
    <p:sldId id="278" r:id="rId5"/>
    <p:sldId id="259" r:id="rId6"/>
    <p:sldId id="260" r:id="rId7"/>
    <p:sldId id="275" r:id="rId9"/>
    <p:sldId id="276" r:id="rId10"/>
    <p:sldId id="268" r:id="rId11"/>
    <p:sldId id="269" r:id="rId12"/>
    <p:sldId id="270" r:id="rId13"/>
    <p:sldId id="279" r:id="rId14"/>
    <p:sldId id="281" r:id="rId15"/>
    <p:sldId id="283" r:id="rId16"/>
    <p:sldId id="282" r:id="rId17"/>
    <p:sldId id="274" r:id="rId18"/>
    <p:sldId id="277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47" y="67"/>
      </p:cViewPr>
      <p:guideLst>
        <p:guide orient="horz" pos="2134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5910" y="326390"/>
            <a:ext cx="11630660" cy="1877060"/>
            <a:chOff x="295910" y="326390"/>
            <a:chExt cx="11630660" cy="1877060"/>
          </a:xfrm>
        </p:grpSpPr>
        <p:sp>
          <p:nvSpPr>
            <p:cNvPr id="3" name="object 3"/>
            <p:cNvSpPr/>
            <p:nvPr/>
          </p:nvSpPr>
          <p:spPr>
            <a:xfrm>
              <a:off x="314960" y="345440"/>
              <a:ext cx="11592560" cy="1838960"/>
            </a:xfrm>
            <a:custGeom>
              <a:avLst/>
              <a:gdLst/>
              <a:ahLst/>
              <a:cxnLst/>
              <a:rect l="l" t="t" r="r" b="b"/>
              <a:pathLst>
                <a:path w="11592560" h="1838960">
                  <a:moveTo>
                    <a:pt x="0" y="0"/>
                  </a:moveTo>
                  <a:lnTo>
                    <a:pt x="11592560" y="0"/>
                  </a:lnTo>
                  <a:lnTo>
                    <a:pt x="11592560" y="1838960"/>
                  </a:lnTo>
                  <a:lnTo>
                    <a:pt x="0" y="183896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0309" y="507709"/>
              <a:ext cx="10972800" cy="11810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06550" y="3858895"/>
            <a:ext cx="8871585" cy="28225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7620" rIns="0" bIns="0" rtlCol="0">
            <a:noAutofit/>
          </a:bodyPr>
          <a:lstStyle/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9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Galla Sai Siddartha (192425093)</a:t>
            </a:r>
            <a:endParaRPr lang="en-IN" altLang="en-US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andukuri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ijay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haskar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eddy (192425155)</a:t>
            </a:r>
            <a:endParaRPr 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Yuvaraj D (192421230)</a:t>
            </a:r>
            <a:endParaRPr lang="en-IN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sz="19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I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ITA0512</a:t>
            </a:r>
            <a:endParaRPr lang="en-US" alt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IN" altLang="en-US"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endParaRPr 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</a:t>
            </a:r>
            <a:r>
              <a:rPr lang="en-IN" altLang="en-US"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Christy Melwyn</a:t>
            </a:r>
            <a:endParaRPr lang="en-US" alt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       </a:t>
            </a: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: 12/08/2026</a:t>
            </a:r>
            <a:endParaRPr lang="en-IN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4325" y="2600960"/>
            <a:ext cx="11592560" cy="4533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675380" marR="5080" indent="-3663315" algn="ctr">
              <a:lnSpc>
                <a:spcPts val="3200"/>
              </a:lnSpc>
              <a:spcBef>
                <a:spcPts val="340"/>
              </a:spcBef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Vision-Based Real-Time Screen Layout Analysis and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Background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85285" y="3130550"/>
            <a:ext cx="4064000" cy="876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Anomaly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Detection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57835"/>
            <a:ext cx="10972800" cy="1060450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IN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ABSTRACT</a:t>
            </a:r>
            <a:endParaRPr lang="en-IN"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6190" y="2108200"/>
            <a:ext cx="8995410" cy="3253105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real-time system for monitoring and analyzing computer screen content.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screens fro</a:t>
            </a: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at configurable time intervals.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Dual OCR to extract text displayed on the screen.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YOLOv8 to classify and detect different types of visual content.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sensitive keywords and suspicious on-screen activities.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175149393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624205"/>
            <a:ext cx="10972799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IN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2" y="1960683"/>
            <a:ext cx="6320116" cy="3400211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Modern desktop compliance beyond simple URL filters.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Limits: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Fails on desktop .exe apps, games &amp; changing URLs.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Gap: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URL filters cannot inspect actual screen text/UI.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Offline security suite with Dual OCR, YOLOv8 &amp; active Win32 control.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175149393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Picture 6" descr="An infographic listing five ways to bypass WiFi restriction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56" y="2686462"/>
            <a:ext cx="4204076" cy="25818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25604"/>
            <a:ext cx="10896600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2513965" algn="l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b="1" spc="-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1" y="1812548"/>
            <a:ext cx="5988424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Blacklist Bypasses: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Ignores native desktop apps, games &amp; offline tools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Visual Awareness: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Cannot inspect rendered UI or confidential on-screen text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&amp; Reactive Rules: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Blocklists become outdated against new threats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Active Mitigation: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Legacy tools log events but fail to stop non-compliant apps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sp>
        <p:nvSpPr>
          <p:cNvPr id="4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317" y="1870676"/>
            <a:ext cx="5299283" cy="30117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160" y="4159250"/>
            <a:ext cx="5302250" cy="20148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542" y="667703"/>
            <a:ext cx="6731635" cy="8540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301115" algn="l"/>
              </a:tabLst>
            </a:pPr>
            <a:r>
              <a:rPr lang="en-US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OBJECTIVE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685439"/>
            <a:ext cx="4724400" cy="28002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Capture: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Multi-monitor sampling at 1s–10s intervals via MSS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Multi-Tier OCR: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PyTesseract C++ + Zero-Setup Native Windows Media OCR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Analytics: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Offline zero-shot classification without cloud lag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9256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6506" y="5214132"/>
            <a:ext cx="11178988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Risk Engine: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0–100 score, Green/Yellow/Red status &amp; OS warning overlay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OS Enforcement: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Kill restricted .exe processes &amp; close browser tabs (WM_CLOSE)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l="2532" t="5282" r="7506" b="23717"/>
          <a:stretch>
            <a:fillRect/>
          </a:stretch>
        </p:blipFill>
        <p:spPr>
          <a:xfrm>
            <a:off x="5074024" y="1930311"/>
            <a:ext cx="6660776" cy="3136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542" y="667703"/>
            <a:ext cx="6731635" cy="8540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301115" algn="l"/>
              </a:tabLst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LITERATURE REVIEW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249045"/>
          </a:xfrm>
          <a:prstGeom prst="rect">
            <a:avLst/>
          </a:prstGeom>
          <a:noFill/>
        </p:spPr>
      </p:pic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9256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Picture 3" descr="ChatGPT Image Aug 26, 2026, 09_53_08 AM"/>
          <p:cNvPicPr>
            <a:picLocks noChangeAspect="1"/>
          </p:cNvPicPr>
          <p:nvPr/>
        </p:nvPicPr>
        <p:blipFill>
          <a:blip r:embed="rId3"/>
          <a:srcRect b="14105"/>
          <a:stretch>
            <a:fillRect/>
          </a:stretch>
        </p:blipFill>
        <p:spPr>
          <a:xfrm>
            <a:off x="576580" y="1790700"/>
            <a:ext cx="11099800" cy="4544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tGPT Image Aug 26, 2026, 09_57_37 AM"/>
          <p:cNvPicPr>
            <a:picLocks noChangeAspect="1"/>
          </p:cNvPicPr>
          <p:nvPr/>
        </p:nvPicPr>
        <p:blipFill>
          <a:blip r:embed="rId1"/>
          <a:srcRect t="13792" b="14382"/>
          <a:stretch>
            <a:fillRect/>
          </a:stretch>
        </p:blipFill>
        <p:spPr>
          <a:xfrm>
            <a:off x="739140" y="1310640"/>
            <a:ext cx="10907395" cy="503809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840" y="457200"/>
            <a:ext cx="7822565" cy="8540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301115" algn="l"/>
              </a:tabLs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ARCHITECTURE DIAGRAM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934085"/>
          </a:xfrm>
          <a:prstGeom prst="rect">
            <a:avLst/>
          </a:prstGeom>
          <a:noFill/>
        </p:spPr>
      </p:pic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744855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9256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767205" y="565785"/>
            <a:ext cx="9137015" cy="154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Screen Capture &amp; Dual OCR</a:t>
            </a:r>
            <a:endParaRPr lang="en-IN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51185" y="565150"/>
            <a:ext cx="1136015" cy="1158875"/>
          </a:xfrm>
          <a:prstGeom prst="rect">
            <a:avLst/>
          </a:prstGeom>
          <a:noFill/>
        </p:spPr>
      </p:pic>
      <p:pic>
        <p:nvPicPr>
          <p:cNvPr id="7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565150"/>
            <a:ext cx="1310005" cy="1158875"/>
          </a:xfrm>
          <a:prstGeom prst="rect">
            <a:avLst/>
          </a:prstGeom>
          <a:noFill/>
        </p:spPr>
      </p:pic>
      <p:sp>
        <p:nvSpPr>
          <p:cNvPr id="8" name="Text Box 7"/>
          <p:cNvSpPr txBox="1"/>
          <p:nvPr/>
        </p:nvSpPr>
        <p:spPr>
          <a:xfrm>
            <a:off x="381000" y="1742179"/>
            <a:ext cx="6396317" cy="4335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Multi-Monitor Grabber: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High-speed display enumeration using MSS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Frequency: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1s to 10s background sampling rate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Zero-Setup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WinOCR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Built-in 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Windows.Media.Ocr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instant setup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PyTesseract: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High-accuracy C++ OCR for multi-language text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Preprocessing: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Automatic bounding box extraction &amp; image normalization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r="37321" b="24010"/>
          <a:stretch>
            <a:fillRect/>
          </a:stretch>
        </p:blipFill>
        <p:spPr>
          <a:xfrm>
            <a:off x="6888275" y="1814920"/>
            <a:ext cx="4578985" cy="44772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1681480" y="601980"/>
            <a:ext cx="9222740" cy="1045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YOLOv8 &amp; Risk Scoring Engine</a:t>
            </a:r>
            <a:b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IN" alt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51185" y="563404"/>
            <a:ext cx="1136015" cy="1158875"/>
          </a:xfrm>
          <a:prstGeom prst="rect">
            <a:avLst/>
          </a:prstGeom>
          <a:noFill/>
        </p:spPr>
      </p:pic>
      <p:pic>
        <p:nvPicPr>
          <p:cNvPr id="1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9270" y="545464"/>
            <a:ext cx="1310005" cy="1158875"/>
          </a:xfrm>
          <a:prstGeom prst="rect">
            <a:avLst/>
          </a:prstGeom>
          <a:noFill/>
        </p:spPr>
      </p:pic>
      <p:sp>
        <p:nvSpPr>
          <p:cNvPr id="19" name="Text Box 18"/>
          <p:cNvSpPr txBox="1"/>
          <p:nvPr/>
        </p:nvSpPr>
        <p:spPr>
          <a:xfrm>
            <a:off x="439270" y="1876107"/>
            <a:ext cx="7660341" cy="4394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Segmentation: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Local category detection (code, social media, gambling)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Keyword Audit: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Scans text against policy rules &amp; regex patterns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Risk Score: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Combines visual model confidence &amp; text weighting (0–100)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Badges: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(0-30)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Yellow (31-70)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(71-100)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threat levels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Masking: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Automatic masking of SSNs, credit cards &amp; passwords in logs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"/>
          <p:cNvSpPr/>
          <p:nvPr/>
        </p:nvSpPr>
        <p:spPr>
          <a:xfrm>
            <a:off x="304800" y="371475"/>
            <a:ext cx="1164844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63445" t="11678" b="26288"/>
          <a:stretch>
            <a:fillRect/>
          </a:stretch>
        </p:blipFill>
        <p:spPr>
          <a:xfrm>
            <a:off x="7788052" y="1912806"/>
            <a:ext cx="3820347" cy="43799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792605" y="569595"/>
            <a:ext cx="8950960" cy="1078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Active Enforcement &amp; Alerts</a:t>
            </a:r>
            <a:endParaRPr lang="en-IN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3565" y="529272"/>
            <a:ext cx="1136015" cy="1158875"/>
          </a:xfrm>
          <a:prstGeom prst="rect">
            <a:avLst/>
          </a:prstGeom>
          <a:noFill/>
        </p:spPr>
      </p:pic>
      <p:pic>
        <p:nvPicPr>
          <p:cNvPr id="12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600" y="529272"/>
            <a:ext cx="1310005" cy="1158875"/>
          </a:xfrm>
          <a:prstGeom prst="rect">
            <a:avLst/>
          </a:prstGeom>
          <a:noFill/>
        </p:spPr>
      </p:pic>
      <p:sp>
        <p:nvSpPr>
          <p:cNvPr id="13" name="Text Box 12"/>
          <p:cNvSpPr txBox="1"/>
          <p:nvPr/>
        </p:nvSpPr>
        <p:spPr>
          <a:xfrm>
            <a:off x="533400" y="1920875"/>
            <a:ext cx="5932881" cy="4520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Termination: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Auto-kills restricted apps (poker.exe, cheatengine.exe)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Window Closing: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Gracefully closes restricted web tabs via WM_CLOSE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Floating Warning Banner: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Top-level OS red overlay during critical events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 Email Alerts: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Background HTML alert emails with screenshot evidence .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Controls: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SHA-256 password protection, lockout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CSV log export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563" y="1961197"/>
            <a:ext cx="4997691" cy="6884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265" y="2649686"/>
            <a:ext cx="4807307" cy="33656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792605" y="569595"/>
            <a:ext cx="8950960" cy="1078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3565" y="529272"/>
            <a:ext cx="1136015" cy="1158875"/>
          </a:xfrm>
          <a:prstGeom prst="rect">
            <a:avLst/>
          </a:prstGeom>
          <a:noFill/>
        </p:spPr>
      </p:pic>
      <p:pic>
        <p:nvPicPr>
          <p:cNvPr id="12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600" y="529272"/>
            <a:ext cx="1310005" cy="1158875"/>
          </a:xfrm>
          <a:prstGeom prst="rect">
            <a:avLst/>
          </a:prstGeom>
          <a:noFill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2532" t="5282" r="7506" b="23717"/>
          <a:stretch>
            <a:fillRect/>
          </a:stretch>
        </p:blipFill>
        <p:spPr>
          <a:xfrm>
            <a:off x="638175" y="1687830"/>
            <a:ext cx="10902315" cy="4638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792605" y="721360"/>
            <a:ext cx="895096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4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TOOLS &amp; TECHNOLOGIES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3565" y="529272"/>
            <a:ext cx="1136015" cy="1158875"/>
          </a:xfrm>
          <a:prstGeom prst="rect">
            <a:avLst/>
          </a:prstGeom>
          <a:noFill/>
        </p:spPr>
      </p:pic>
      <p:pic>
        <p:nvPicPr>
          <p:cNvPr id="12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600" y="529272"/>
            <a:ext cx="1310005" cy="1158875"/>
          </a:xfrm>
          <a:prstGeom prst="rect">
            <a:avLst/>
          </a:prstGeom>
          <a:noFill/>
        </p:spPr>
      </p:pic>
      <p:sp>
        <p:nvSpPr>
          <p:cNvPr id="13" name="Text Box 12"/>
          <p:cNvSpPr txBox="1"/>
          <p:nvPr/>
        </p:nvSpPr>
        <p:spPr>
          <a:xfrm>
            <a:off x="482600" y="1790065"/>
            <a:ext cx="8458200" cy="4520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Used as the main programming language for system development.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Media OCR – Provides native and zero-setup text extraction.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PyTesseract OCR – Used as a fallback for accurate and multilingual OCR.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– Used for real-time visual detection and screen-content classification.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– Used for image preprocessing, enhancement, and analysis.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 – Used to send real-time email alerts with screenshot evidence.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9280922" y="2878455"/>
            <a:ext cx="2082006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792605" y="721360"/>
            <a:ext cx="895096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3565" y="529272"/>
            <a:ext cx="1136015" cy="1158875"/>
          </a:xfrm>
          <a:prstGeom prst="rect">
            <a:avLst/>
          </a:prstGeom>
          <a:noFill/>
        </p:spPr>
      </p:pic>
      <p:pic>
        <p:nvPicPr>
          <p:cNvPr id="12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600" y="529272"/>
            <a:ext cx="1310005" cy="1158875"/>
          </a:xfrm>
          <a:prstGeom prst="rect">
            <a:avLst/>
          </a:prstGeom>
          <a:noFill/>
        </p:spPr>
      </p:pic>
      <p:sp>
        <p:nvSpPr>
          <p:cNvPr id="13" name="Text Box 12"/>
          <p:cNvSpPr txBox="1"/>
          <p:nvPr/>
        </p:nvSpPr>
        <p:spPr>
          <a:xfrm>
            <a:off x="533400" y="1920875"/>
            <a:ext cx="7317105" cy="4520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captures and analyzes screen content in real time.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OCR extracts visible on-screen text for further analysis.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classifies different screen categories such as code editors, social media, and gaming content.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risk engine generates a 0–100 compliance risk score based on visual and textual analysis.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activities are classified into Green, Yellow, and Red risk levels.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63445" t="11678" b="26288"/>
          <a:stretch>
            <a:fillRect/>
          </a:stretch>
        </p:blipFill>
        <p:spPr>
          <a:xfrm>
            <a:off x="7950200" y="1912620"/>
            <a:ext cx="3658235" cy="4380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792605" y="721360"/>
            <a:ext cx="895096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3565" y="529272"/>
            <a:ext cx="1136015" cy="1158875"/>
          </a:xfrm>
          <a:prstGeom prst="rect">
            <a:avLst/>
          </a:prstGeom>
          <a:noFill/>
        </p:spPr>
      </p:pic>
      <p:pic>
        <p:nvPicPr>
          <p:cNvPr id="12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600" y="529272"/>
            <a:ext cx="1310005" cy="1158875"/>
          </a:xfrm>
          <a:prstGeom prst="rect">
            <a:avLst/>
          </a:prstGeom>
          <a:noFill/>
        </p:spPr>
      </p:pic>
      <p:sp>
        <p:nvSpPr>
          <p:cNvPr id="13" name="Text Box 12"/>
          <p:cNvSpPr txBox="1"/>
          <p:nvPr/>
        </p:nvSpPr>
        <p:spPr>
          <a:xfrm>
            <a:off x="533400" y="1920875"/>
            <a:ext cx="6043930" cy="4520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enterprise dashboard for monitoring multiple systems from one platform.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for cross-platform support such as Linux and macOS.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more advanced AI models to improve visual anomaly detection accuracy.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cloud synchronization for centralized monitoring and data backup.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7124065" y="2138045"/>
            <a:ext cx="4187190" cy="35121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Text Box 5"/>
          <p:cNvSpPr txBox="1"/>
          <p:nvPr/>
        </p:nvSpPr>
        <p:spPr>
          <a:xfrm>
            <a:off x="2667000" y="706120"/>
            <a:ext cx="6096000" cy="704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ONCLUSION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21727" y="1779494"/>
            <a:ext cx="9758083" cy="445176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Protection: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Complete offline desktop compliance &amp; enforcement suite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Surpasses URL Blockers: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Visually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active screen text &amp; application UI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Setup Dependency: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Operates out of the box via Native Windows Media OCR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Proactive Mitigation: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Kills unauthorized processes before data leaks occur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Roadmap: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Enterprise server dashboard &amp; cross-platform agent deployment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9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Text Box 5"/>
          <p:cNvSpPr txBox="1"/>
          <p:nvPr/>
        </p:nvSpPr>
        <p:spPr>
          <a:xfrm>
            <a:off x="2667000" y="706120"/>
            <a:ext cx="6096000" cy="704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REFERENCES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96265" y="1779270"/>
            <a:ext cx="11050905" cy="4451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 Smith, “An Overview of the Tesseract OCR Engine,” Proceedings of the Ninth International Conference on Document Analysis and Recognition (ICDAR), pp. 629–633, 2007.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Glenn Jocher, Ayush Chaurasia and Jing Qiu, “Ultralytics YOLOv8,” Ultralytics Software Documentation, Version 8.0.0, 2023.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Microsoft, “Windows.Media.Ocr Namespace,” Microsoft Learn, documentation for Optical Character Recognition APIs in Windows applications.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Yunkang Cao, Xiaohao Xu, Jiangning Zhang, Yuqi Cheng, Xiaonan Huang, Guansong Pang and Weiming Shen, “A Survey on Visual Anomaly Detection: Challenge, Approach, and Prospect,” 2024.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9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77925" y="1219200"/>
            <a:ext cx="9836150" cy="4485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5076</Words>
  <Application>WPS Presentation</Application>
  <PresentationFormat>Widescreen</PresentationFormat>
  <Paragraphs>115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Vision-Based Real-Time Screen Layout Analysis and Background </vt:lpstr>
      <vt:lpstr>    ABSTRACT</vt:lpstr>
      <vt:lpstr>  INTRODUCTION </vt:lpstr>
      <vt:lpstr>PROBLEM STATEMENT</vt:lpstr>
      <vt:lpstr>    OBJECTIVE</vt:lpstr>
      <vt:lpstr>   LITERATURE REVIEW</vt:lpstr>
      <vt:lpstr>ARCHITECTURE DIAGRAM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Siddartha Galla</cp:lastModifiedBy>
  <cp:revision>31</cp:revision>
  <dcterms:created xsi:type="dcterms:W3CDTF">2025-07-23T00:59:00Z</dcterms:created>
  <dcterms:modified xsi:type="dcterms:W3CDTF">2026-08-28T08:50:49Z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F01F50B13AA746CA9A7D76D240671D48_13</vt:lpwstr>
  </property>
  <property fmtid="{D5CDD505-2E9C-101B-9397-08002B2CF9AE}" pid="3" name="KSOProductBuildVer">
    <vt:lpwstr>1033-12.1.0.28032</vt:lpwstr>
  </property>
</Properties>
</file>